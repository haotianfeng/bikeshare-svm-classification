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61" r:id="rId3"/>
  </p:sldMasterIdLst>
  <p:notesMasterIdLst>
    <p:notesMasterId r:id="rId10"/>
  </p:notesMasterIdLst>
  <p:sldIdLst>
    <p:sldId id="257" r:id="rId4"/>
    <p:sldId id="261" r:id="rId5"/>
    <p:sldId id="381" r:id="rId6"/>
    <p:sldId id="382" r:id="rId7"/>
    <p:sldId id="383" r:id="rId8"/>
    <p:sldId id="384" r:id="rId9"/>
  </p:sldIdLst>
  <p:sldSz cx="12192000" cy="6858000"/>
  <p:notesSz cx="6858000" cy="9144000"/>
  <p:embeddedFontLst>
    <p:embeddedFont>
      <p:font typeface="Calibri" panose="020F0502020204030204" pitchFamily="34" charset="0"/>
      <p:regular r:id="rId14"/>
    </p:embeddedFont>
    <p:embeddedFont>
      <p:font typeface="Calibri" panose="020F0502020204030204"/>
      <p:regular r:id="rId15"/>
    </p:embeddedFont>
  </p:embeddedFontLst>
  <p:custDataLst>
    <p:tags r:id="rId1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EFF5"/>
    <a:srgbClr val="DAE3F3"/>
    <a:srgbClr val="2F528F"/>
    <a:srgbClr val="DEEBF7"/>
    <a:srgbClr val="E2F0D9"/>
    <a:srgbClr val="7030A0"/>
    <a:srgbClr val="FBE5D6"/>
    <a:srgbClr val="FFF2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22" autoAdjust="0"/>
    <p:restoredTop sz="94660"/>
  </p:normalViewPr>
  <p:slideViewPr>
    <p:cSldViewPr snapToGrid="0">
      <p:cViewPr varScale="1">
        <p:scale>
          <a:sx n="100" d="100"/>
          <a:sy n="100" d="100"/>
        </p:scale>
        <p:origin x="112" y="1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6" Type="http://schemas.openxmlformats.org/officeDocument/2006/relationships/tags" Target="tags/tag1.xml"/><Relationship Id="rId15" Type="http://schemas.openxmlformats.org/officeDocument/2006/relationships/font" Target="fonts/font2.fntdata"/><Relationship Id="rId14" Type="http://schemas.openxmlformats.org/officeDocument/2006/relationships/font" Target="fonts/font1.fntdata"/><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DFB4BBD5-CD23-4D03-81BC-66124553B3E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6FA23ED-E390-41B5-8CF4-5F592D7045DC}"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DFB4BBD5-CD23-4D03-81BC-66124553B3E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6FA23ED-E390-41B5-8CF4-5F592D7045DC}"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DFB4BBD5-CD23-4D03-81BC-66124553B3E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6FA23ED-E390-41B5-8CF4-5F592D7045DC}"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DFB4BBD5-CD23-4D03-81BC-66124553B3E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6FA23ED-E390-41B5-8CF4-5F592D7045DC}"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DFB4BBD5-CD23-4D03-81BC-66124553B3EC}"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6FA23ED-E390-41B5-8CF4-5F592D7045DC}"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DFB4BBD5-CD23-4D03-81BC-66124553B3EC}"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6FA23ED-E390-41B5-8CF4-5F592D7045DC}"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FB4BBD5-CD23-4D03-81BC-66124553B3EC}"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6FA23ED-E390-41B5-8CF4-5F592D7045DC}"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FB4BBD5-CD23-4D03-81BC-66124553B3E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6FA23ED-E390-41B5-8CF4-5F592D7045DC}"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FB4BBD5-CD23-4D03-81BC-66124553B3E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6FA23ED-E390-41B5-8CF4-5F592D7045DC}"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DFB4BBD5-CD23-4D03-81BC-66124553B3E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6FA23ED-E390-41B5-8CF4-5F592D7045DC}"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DFB4BBD5-CD23-4D03-81BC-66124553B3E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6FA23ED-E390-41B5-8CF4-5F592D7045DC}"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50" y="364458"/>
            <a:ext cx="10515500" cy="1326004"/>
          </a:xfrm>
          <a:prstGeom prst="rect">
            <a:avLst/>
          </a:prstGeom>
        </p:spPr>
        <p:txBody>
          <a:bodyPr/>
          <a:lstStyle/>
          <a:p>
            <a:r>
              <a:rPr lang="zh-CN" altLang="en-US"/>
              <a:t>单击此处编辑母版标题样式</a:t>
            </a:r>
            <a:endParaRPr lang="zh-CN" altLang="en-US"/>
          </a:p>
        </p:txBody>
      </p:sp>
      <p:sp>
        <p:nvSpPr>
          <p:cNvPr id="3" name="矩形 2"/>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60"/>
          </a:p>
        </p:txBody>
      </p:sp>
      <p:sp>
        <p:nvSpPr>
          <p:cNvPr id="4" name="矩形 3"/>
          <p:cNvSpPr/>
          <p:nvPr userDrawn="1"/>
        </p:nvSpPr>
        <p:spPr>
          <a:xfrm rot="16200000">
            <a:off x="5757800" y="4432887"/>
            <a:ext cx="553255" cy="43074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
          </a:p>
        </p:txBody>
      </p:sp>
      <p:sp>
        <p:nvSpPr>
          <p:cNvPr id="5" name="矩形 4"/>
          <p:cNvSpPr/>
          <p:nvPr userDrawn="1"/>
        </p:nvSpPr>
        <p:spPr>
          <a:xfrm rot="16200000">
            <a:off x="5753438" y="-1872751"/>
            <a:ext cx="561979" cy="43074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 dirty="0"/>
          </a:p>
        </p:txBody>
      </p:sp>
      <p:sp>
        <p:nvSpPr>
          <p:cNvPr id="6" name="文本框 5"/>
          <p:cNvSpPr txBox="1"/>
          <p:nvPr userDrawn="1"/>
        </p:nvSpPr>
        <p:spPr>
          <a:xfrm>
            <a:off x="1814767" y="2678685"/>
            <a:ext cx="1312537" cy="750315"/>
          </a:xfrm>
          <a:prstGeom prst="rect">
            <a:avLst/>
          </a:prstGeom>
          <a:noFill/>
        </p:spPr>
        <p:txBody>
          <a:bodyPr wrap="none" rtlCol="0">
            <a:spAutoFit/>
          </a:bodyPr>
          <a:lstStyle/>
          <a:p>
            <a:r>
              <a:rPr lang="zh-CN" altLang="en-US" sz="4290" b="1" dirty="0">
                <a:solidFill>
                  <a:schemeClr val="tx1"/>
                </a:solidFill>
                <a:latin typeface="微软雅黑" panose="020B0503020204020204" pitchFamily="34" charset="-122"/>
                <a:ea typeface="微软雅黑" panose="020B0503020204020204" pitchFamily="34" charset="-122"/>
              </a:rPr>
              <a:t>目录</a:t>
            </a:r>
            <a:endParaRPr lang="zh-CN" altLang="en-US" sz="3900" b="1" dirty="0">
              <a:solidFill>
                <a:schemeClr val="tx1"/>
              </a:solidFill>
              <a:latin typeface="微软雅黑" panose="020B0503020204020204" pitchFamily="34" charset="-122"/>
              <a:ea typeface="微软雅黑" panose="020B0503020204020204" pitchFamily="34" charset="-122"/>
            </a:endParaRPr>
          </a:p>
        </p:txBody>
      </p:sp>
      <p:sp>
        <p:nvSpPr>
          <p:cNvPr id="7" name="文本框 6"/>
          <p:cNvSpPr txBox="1"/>
          <p:nvPr userDrawn="1"/>
        </p:nvSpPr>
        <p:spPr>
          <a:xfrm>
            <a:off x="1448598" y="3515149"/>
            <a:ext cx="2044874" cy="495366"/>
          </a:xfrm>
          <a:prstGeom prst="rect">
            <a:avLst/>
          </a:prstGeom>
          <a:noFill/>
        </p:spPr>
        <p:txBody>
          <a:bodyPr wrap="none" rtlCol="0">
            <a:spAutoFit/>
          </a:bodyPr>
          <a:lstStyle/>
          <a:p>
            <a:r>
              <a:rPr lang="en-US" altLang="zh-CN" sz="2635" dirty="0">
                <a:solidFill>
                  <a:schemeClr val="tx1"/>
                </a:solidFill>
                <a:latin typeface="微软雅黑" panose="020B0503020204020204" pitchFamily="34" charset="-122"/>
                <a:ea typeface="微软雅黑" panose="020B0503020204020204" pitchFamily="34" charset="-122"/>
              </a:rPr>
              <a:t>CONTENTS</a:t>
            </a:r>
            <a:endParaRPr lang="zh-CN" altLang="en-US" sz="2340" dirty="0">
              <a:solidFill>
                <a:schemeClr val="tx1"/>
              </a:solidFill>
              <a:latin typeface="微软雅黑" panose="020B0503020204020204" pitchFamily="34" charset="-122"/>
              <a:ea typeface="微软雅黑" panose="020B0503020204020204" pitchFamily="34" charset="-122"/>
            </a:endParaRPr>
          </a:p>
        </p:txBody>
      </p:sp>
      <p:cxnSp>
        <p:nvCxnSpPr>
          <p:cNvPr id="10" name="直接连接符 9"/>
          <p:cNvCxnSpPr/>
          <p:nvPr userDrawn="1"/>
        </p:nvCxnSpPr>
        <p:spPr>
          <a:xfrm>
            <a:off x="4055633" y="1836826"/>
            <a:ext cx="0" cy="2674469"/>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3" name="图片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049916" y="6365376"/>
            <a:ext cx="2092171" cy="45126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DFB4BBD5-CD23-4D03-81BC-66124553B3E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6FA23ED-E390-41B5-8CF4-5F592D7045DC}"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DFB4BBD5-CD23-4D03-81BC-66124553B3E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6FA23ED-E390-41B5-8CF4-5F592D7045DC}"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DFB4BBD5-CD23-4D03-81BC-66124553B3E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6FA23ED-E390-41B5-8CF4-5F592D7045DC}"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DFB4BBD5-CD23-4D03-81BC-66124553B3E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6FA23ED-E390-41B5-8CF4-5F592D7045DC}"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DFB4BBD5-CD23-4D03-81BC-66124553B3EC}"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6FA23ED-E390-41B5-8CF4-5F592D7045DC}"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DFB4BBD5-CD23-4D03-81BC-66124553B3EC}"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6FA23ED-E390-41B5-8CF4-5F592D7045DC}"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FB4BBD5-CD23-4D03-81BC-66124553B3EC}"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6FA23ED-E390-41B5-8CF4-5F592D7045DC}"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FB4BBD5-CD23-4D03-81BC-66124553B3E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6FA23ED-E390-41B5-8CF4-5F592D7045DC}"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FB4BBD5-CD23-4D03-81BC-66124553B3E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6FA23ED-E390-41B5-8CF4-5F592D7045DC}"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DFB4BBD5-CD23-4D03-81BC-66124553B3E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6FA23ED-E390-41B5-8CF4-5F592D7045DC}"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DFB4BBD5-CD23-4D03-81BC-66124553B3E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6FA23ED-E390-41B5-8CF4-5F592D7045DC}"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2" Type="http://schemas.openxmlformats.org/officeDocument/2006/relationships/theme" Target="../theme/theme2.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B4BBD5-CD23-4D03-81BC-66124553B3EC}"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FA23ED-E390-41B5-8CF4-5F592D7045DC}"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B4BBD5-CD23-4D03-81BC-66124553B3EC}"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FA23ED-E390-41B5-8CF4-5F592D7045DC}"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microsoft.com/office/2007/relationships/hdphoto" Target="../media/image4.wdp"/><Relationship Id="rId2" Type="http://schemas.openxmlformats.org/officeDocument/2006/relationships/image" Target="../media/image3.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microsoft.com/office/2007/relationships/hdphoto" Target="../media/image4.wdp"/><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microsoft.com/office/2007/relationships/hdphoto" Target="../media/image4.wdp"/><Relationship Id="rId2" Type="http://schemas.openxmlformats.org/officeDocument/2006/relationships/image" Target="../media/image3.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microsoft.com/office/2007/relationships/hdphoto" Target="../media/image4.wdp"/><Relationship Id="rId2" Type="http://schemas.openxmlformats.org/officeDocument/2006/relationships/image" Target="../media/image3.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5.png"/><Relationship Id="rId3" Type="http://schemas.microsoft.com/office/2007/relationships/hdphoto" Target="../media/image4.wdp"/><Relationship Id="rId2" Type="http://schemas.openxmlformats.org/officeDocument/2006/relationships/image" Target="../media/image3.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microsoft.com/office/2007/relationships/hdphoto" Target="../media/image4.wdp"/><Relationship Id="rId2" Type="http://schemas.openxmlformats.org/officeDocument/2006/relationships/image" Target="../media/image3.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6"/>
          <p:cNvSpPr>
            <a:spLocks noChangeArrowheads="1"/>
          </p:cNvSpPr>
          <p:nvPr/>
        </p:nvSpPr>
        <p:spPr bwMode="auto">
          <a:xfrm>
            <a:off x="0" y="1956435"/>
            <a:ext cx="12192000" cy="3015615"/>
          </a:xfrm>
          <a:prstGeom prst="rect">
            <a:avLst/>
          </a:prstGeom>
          <a:solidFill>
            <a:schemeClr val="accent5">
              <a:lumMod val="40000"/>
              <a:lumOff val="60000"/>
            </a:schemeClr>
          </a:solidFill>
          <a:ln>
            <a:noFill/>
          </a:ln>
        </p:spPr>
        <p:txBody>
          <a:bodyPr anchor="ct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Calibri" panose="020F0502020204030204" pitchFamily="34" charset="0"/>
                <a:ea typeface="宋体" pitchFamily="2" charset="-122"/>
              </a:defRPr>
            </a:lvl9pPr>
          </a:lstStyle>
          <a:p>
            <a:pPr algn="ctr"/>
            <a:endParaRPr lang="zh-CN" altLang="en-US" sz="4000" b="1" dirty="0">
              <a:solidFill>
                <a:schemeClr val="accent1"/>
              </a:solidFill>
              <a:latin typeface="微软雅黑" panose="020B0503020204020204" pitchFamily="34" charset="-122"/>
              <a:ea typeface="微软雅黑" panose="020B0503020204020204" pitchFamily="34" charset="-122"/>
            </a:endParaRPr>
          </a:p>
        </p:txBody>
      </p:sp>
      <p:grpSp>
        <p:nvGrpSpPr>
          <p:cNvPr id="4" name="组合 3"/>
          <p:cNvGrpSpPr/>
          <p:nvPr/>
        </p:nvGrpSpPr>
        <p:grpSpPr>
          <a:xfrm>
            <a:off x="-830385" y="328780"/>
            <a:ext cx="1660770" cy="167667"/>
            <a:chOff x="6429877" y="2075668"/>
            <a:chExt cx="1982046" cy="109699"/>
          </a:xfrm>
          <a:solidFill>
            <a:srgbClr val="004E98"/>
          </a:solidFill>
        </p:grpSpPr>
        <p:sp>
          <p:nvSpPr>
            <p:cNvPr id="18" name="矩形: 圆角 17"/>
            <p:cNvSpPr/>
            <p:nvPr/>
          </p:nvSpPr>
          <p:spPr>
            <a:xfrm>
              <a:off x="6429877" y="2112613"/>
              <a:ext cx="1769958" cy="34289"/>
            </a:xfrm>
            <a:prstGeom prst="roundRect">
              <a:avLst>
                <a:gd name="adj" fmla="val 50000"/>
              </a:avLst>
            </a:prstGeom>
            <a:grpFill/>
            <a:ln w="12700" cap="flat" cmpd="sng" algn="ctr">
              <a:noFill/>
              <a:prstDash val="solid"/>
              <a:miter lim="800000"/>
            </a:ln>
            <a:effectLst/>
          </p:spPr>
          <p:txBody>
            <a:bodyPr rot="0" spcFirstLastPara="0"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OPPOSans R"/>
                <a:ea typeface="OPPOSans R"/>
                <a:cs typeface="+mn-cs"/>
              </a:endParaRPr>
            </a:p>
          </p:txBody>
        </p:sp>
        <p:sp>
          <p:nvSpPr>
            <p:cNvPr id="19" name="矩形: 圆角 18"/>
            <p:cNvSpPr/>
            <p:nvPr/>
          </p:nvSpPr>
          <p:spPr>
            <a:xfrm>
              <a:off x="7736923" y="2171867"/>
              <a:ext cx="675000" cy="13500"/>
            </a:xfrm>
            <a:prstGeom prst="roundRect">
              <a:avLst>
                <a:gd name="adj" fmla="val 50000"/>
              </a:avLst>
            </a:prstGeom>
            <a:grpFill/>
            <a:ln w="9525" cap="rnd"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dirty="0">
                <a:ln>
                  <a:noFill/>
                </a:ln>
                <a:solidFill>
                  <a:prstClr val="white"/>
                </a:solidFill>
                <a:effectLst/>
                <a:uLnTx/>
                <a:uFillTx/>
                <a:latin typeface="OPPOSans R"/>
                <a:ea typeface="OPPOSans R"/>
                <a:cs typeface="+mn-cs"/>
              </a:endParaRPr>
            </a:p>
          </p:txBody>
        </p:sp>
        <p:sp>
          <p:nvSpPr>
            <p:cNvPr id="20" name="矩形: 圆角 19"/>
            <p:cNvSpPr/>
            <p:nvPr/>
          </p:nvSpPr>
          <p:spPr>
            <a:xfrm>
              <a:off x="7648945" y="2075668"/>
              <a:ext cx="675000" cy="13500"/>
            </a:xfrm>
            <a:prstGeom prst="roundRect">
              <a:avLst>
                <a:gd name="adj" fmla="val 50000"/>
              </a:avLst>
            </a:prstGeom>
            <a:grpFill/>
            <a:ln w="9525" cap="rnd"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dirty="0">
                <a:ln>
                  <a:noFill/>
                </a:ln>
                <a:solidFill>
                  <a:prstClr val="white"/>
                </a:solidFill>
                <a:effectLst/>
                <a:uLnTx/>
                <a:uFillTx/>
                <a:latin typeface="OPPOSans R"/>
                <a:ea typeface="OPPOSans R"/>
                <a:cs typeface="+mn-cs"/>
              </a:endParaRPr>
            </a:p>
          </p:txBody>
        </p:sp>
      </p:grpSp>
      <p:sp>
        <p:nvSpPr>
          <p:cNvPr id="8" name="矩形 7"/>
          <p:cNvSpPr/>
          <p:nvPr/>
        </p:nvSpPr>
        <p:spPr>
          <a:xfrm>
            <a:off x="0" y="6579283"/>
            <a:ext cx="12192000" cy="278717"/>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2" name="文本框 4"/>
          <p:cNvSpPr txBox="1"/>
          <p:nvPr/>
        </p:nvSpPr>
        <p:spPr>
          <a:xfrm>
            <a:off x="-11430" y="2049145"/>
            <a:ext cx="12173585" cy="1061085"/>
          </a:xfrm>
          <a:prstGeom prst="rect">
            <a:avLst/>
          </a:prstGeom>
          <a:noFill/>
        </p:spPr>
        <p:txBody>
          <a:bodyPr wrap="square" rtlCol="0">
            <a:noAutofit/>
          </a:bodyPr>
          <a:p>
            <a:pPr marL="0" marR="0" lvl="0" indent="0" algn="ctr" defTabSz="914400" rtl="0" eaLnBrk="1" fontAlgn="auto" latinLnBrk="0" hangingPunct="1">
              <a:lnSpc>
                <a:spcPct val="200000"/>
              </a:lnSpc>
              <a:spcBef>
                <a:spcPts val="0"/>
              </a:spcBef>
              <a:spcAft>
                <a:spcPts val="0"/>
              </a:spcAft>
              <a:buClrTx/>
              <a:buSzTx/>
              <a:buFontTx/>
              <a:buNone/>
              <a:defRPr/>
            </a:pPr>
            <a:r>
              <a:rPr kumimoji="0" lang="zh-CN" altLang="en-US" sz="4800" b="1" i="0" u="none" strike="noStrike" kern="1800" cap="none" spc="45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机器学习实验课课程安排</a:t>
            </a:r>
            <a:endParaRPr kumimoji="0" lang="zh-CN" altLang="en-US" sz="4800" b="1" i="0" u="none" strike="noStrike" kern="1800" cap="none" spc="45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6" name="灯片编号占位符 1"/>
          <p:cNvSpPr>
            <a:spLocks noGrp="1"/>
          </p:cNvSpPr>
          <p:nvPr>
            <p:ph type="sldNum" sz="quarter" idx="12"/>
          </p:nvPr>
        </p:nvSpPr>
        <p:spPr>
          <a:xfrm>
            <a:off x="11377731" y="223721"/>
            <a:ext cx="555674" cy="365125"/>
          </a:xfrm>
        </p:spPr>
        <p:txBody>
          <a:bodyPr/>
          <a:p>
            <a:pPr algn="ctr" defTabSz="457200">
              <a:defRPr/>
            </a:pPr>
            <a:fld id="{791702D1-1167-4612-BF8C-6B16D0213C9E}" type="slidenum">
              <a:rPr lang="zh-CN" altLang="en-US" sz="2000" b="1">
                <a:solidFill>
                  <a:prstClr val="white"/>
                </a:solidFill>
                <a:latin typeface="微软雅黑" panose="020B0503020204020204" pitchFamily="34" charset="-122"/>
                <a:ea typeface="微软雅黑" panose="020B0503020204020204" pitchFamily="34" charset="-122"/>
              </a:rPr>
            </a:fld>
            <a:endParaRPr lang="zh-CN" altLang="en-US" sz="2000" b="1" dirty="0">
              <a:solidFill>
                <a:prstClr val="white"/>
              </a:solidFill>
              <a:latin typeface="微软雅黑" panose="020B0503020204020204" pitchFamily="34" charset="-122"/>
              <a:ea typeface="微软雅黑" panose="020B0503020204020204" pitchFamily="34" charset="-122"/>
            </a:endParaRPr>
          </a:p>
        </p:txBody>
      </p:sp>
      <p:pic>
        <p:nvPicPr>
          <p:cNvPr id="9"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012588" y="204109"/>
            <a:ext cx="420197" cy="430358"/>
          </a:xfrm>
          <a:prstGeom prst="rect">
            <a:avLst/>
          </a:prstGeom>
          <a:noFill/>
          <a:extLst>
            <a:ext uri="{909E8E84-426E-40DD-AFC4-6F175D3DCCD1}">
              <a14:hiddenFill xmlns:a14="http://schemas.microsoft.com/office/drawing/2010/main">
                <a:solidFill>
                  <a:srgbClr val="FFFFFF"/>
                </a:solidFill>
              </a14:hiddenFill>
            </a:ext>
          </a:extLst>
        </p:spPr>
      </p:pic>
      <p:pic>
        <p:nvPicPr>
          <p:cNvPr id="13" name="图片 12"/>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0559914" y="215196"/>
            <a:ext cx="1236889" cy="392355"/>
          </a:xfrm>
          <a:prstGeom prst="rect">
            <a:avLst/>
          </a:prstGeom>
        </p:spPr>
      </p:pic>
      <p:cxnSp>
        <p:nvCxnSpPr>
          <p:cNvPr id="14" name="直线连接符 24"/>
          <p:cNvCxnSpPr/>
          <p:nvPr/>
        </p:nvCxnSpPr>
        <p:spPr>
          <a:xfrm flipV="1">
            <a:off x="-11625" y="827738"/>
            <a:ext cx="12202795" cy="33655"/>
          </a:xfrm>
          <a:prstGeom prst="line">
            <a:avLst/>
          </a:prstGeom>
          <a:ln w="38100"/>
        </p:spPr>
        <p:style>
          <a:lnRef idx="3">
            <a:schemeClr val="accent1"/>
          </a:lnRef>
          <a:fillRef idx="0">
            <a:schemeClr val="accent1"/>
          </a:fillRef>
          <a:effectRef idx="2">
            <a:schemeClr val="accent1"/>
          </a:effectRef>
          <a:fontRef idx="minor">
            <a:schemeClr val="tx1"/>
          </a:fontRef>
        </p:style>
      </p:cxnSp>
      <p:sp>
        <p:nvSpPr>
          <p:cNvPr id="3" name="文本框 2"/>
          <p:cNvSpPr txBox="1"/>
          <p:nvPr/>
        </p:nvSpPr>
        <p:spPr>
          <a:xfrm>
            <a:off x="4208780" y="3839845"/>
            <a:ext cx="3775075" cy="398780"/>
          </a:xfrm>
          <a:prstGeom prst="rect">
            <a:avLst/>
          </a:prstGeom>
          <a:noFill/>
        </p:spPr>
        <p:txBody>
          <a:bodyPr wrap="square" rtlCol="0">
            <a:spAutoFit/>
          </a:bodyPr>
          <a:p>
            <a:r>
              <a:rPr lang="zh-CN" altLang="en-US" sz="2000" b="1" kern="1800" spc="450" noProof="0" dirty="0">
                <a:ln>
                  <a:noFill/>
                </a:ln>
                <a:effectLst/>
                <a:uLnTx/>
                <a:uFillTx/>
                <a:latin typeface="微软雅黑" panose="020B0503020204020204" pitchFamily="34" charset="-122"/>
                <a:ea typeface="微软雅黑" panose="020B0503020204020204" pitchFamily="34" charset="-122"/>
              </a:rPr>
              <a:t>基于SVM进行分类预测</a:t>
            </a:r>
            <a:endParaRPr lang="zh-CN" altLang="en-US" sz="2000" b="1" kern="1800" spc="450" noProof="0" dirty="0">
              <a:ln>
                <a:noFill/>
              </a:ln>
              <a:effectLst/>
              <a:uLnTx/>
              <a:uFillTx/>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线连接符 24"/>
          <p:cNvCxnSpPr/>
          <p:nvPr/>
        </p:nvCxnSpPr>
        <p:spPr>
          <a:xfrm>
            <a:off x="830385" y="884888"/>
            <a:ext cx="10801927" cy="0"/>
          </a:xfrm>
          <a:prstGeom prst="line">
            <a:avLst/>
          </a:prstGeom>
          <a:ln w="38100"/>
        </p:spPr>
        <p:style>
          <a:lnRef idx="3">
            <a:schemeClr val="accent1"/>
          </a:lnRef>
          <a:fillRef idx="0">
            <a:schemeClr val="accent1"/>
          </a:fillRef>
          <a:effectRef idx="2">
            <a:schemeClr val="accent1"/>
          </a:effectRef>
          <a:fontRef idx="minor">
            <a:schemeClr val="tx1"/>
          </a:fontRef>
        </p:style>
      </p:cxnSp>
      <p:sp>
        <p:nvSpPr>
          <p:cNvPr id="8" name="矩形 7"/>
          <p:cNvSpPr/>
          <p:nvPr/>
        </p:nvSpPr>
        <p:spPr>
          <a:xfrm>
            <a:off x="0" y="6579283"/>
            <a:ext cx="12192000" cy="278717"/>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13" name="灯片编号占位符 1"/>
          <p:cNvSpPr>
            <a:spLocks noGrp="1"/>
          </p:cNvSpPr>
          <p:nvPr>
            <p:ph type="sldNum" sz="quarter" idx="12"/>
          </p:nvPr>
        </p:nvSpPr>
        <p:spPr>
          <a:xfrm>
            <a:off x="11057691" y="334846"/>
            <a:ext cx="555674" cy="365125"/>
          </a:xfrm>
        </p:spPr>
        <p:txBody>
          <a:bodyPr/>
          <a:p>
            <a:pPr algn="ctr" defTabSz="457200">
              <a:defRPr/>
            </a:pPr>
            <a:fld id="{791702D1-1167-4612-BF8C-6B16D0213C9E}" type="slidenum">
              <a:rPr lang="zh-CN" altLang="en-US" sz="2000" b="1">
                <a:solidFill>
                  <a:prstClr val="white"/>
                </a:solidFill>
                <a:latin typeface="微软雅黑" panose="020B0503020204020204" pitchFamily="34" charset="-122"/>
                <a:ea typeface="微软雅黑" panose="020B0503020204020204" pitchFamily="34" charset="-122"/>
              </a:rPr>
            </a:fld>
            <a:endParaRPr lang="zh-CN" altLang="en-US" sz="2000" b="1" dirty="0">
              <a:solidFill>
                <a:prstClr val="white"/>
              </a:solidFill>
              <a:latin typeface="微软雅黑" panose="020B0503020204020204" pitchFamily="34" charset="-122"/>
              <a:ea typeface="微软雅黑" panose="020B0503020204020204" pitchFamily="34" charset="-122"/>
            </a:endParaRPr>
          </a:p>
        </p:txBody>
      </p:sp>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692548" y="315234"/>
            <a:ext cx="420197" cy="430358"/>
          </a:xfrm>
          <a:prstGeom prst="rect">
            <a:avLst/>
          </a:prstGeom>
          <a:noFill/>
          <a:extLst>
            <a:ext uri="{909E8E84-426E-40DD-AFC4-6F175D3DCCD1}">
              <a14:hiddenFill xmlns:a14="http://schemas.microsoft.com/office/drawing/2010/main">
                <a:solidFill>
                  <a:srgbClr val="FFFFFF"/>
                </a:solidFill>
              </a14:hiddenFill>
            </a:ext>
          </a:extLst>
        </p:spPr>
      </p:pic>
      <p:pic>
        <p:nvPicPr>
          <p:cNvPr id="15" name="图片 14"/>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0239874" y="326321"/>
            <a:ext cx="1236889" cy="392355"/>
          </a:xfrm>
          <a:prstGeom prst="rect">
            <a:avLst/>
          </a:prstGeom>
        </p:spPr>
      </p:pic>
      <p:sp>
        <p:nvSpPr>
          <p:cNvPr id="6" name="文本框 5"/>
          <p:cNvSpPr txBox="1"/>
          <p:nvPr/>
        </p:nvSpPr>
        <p:spPr>
          <a:xfrm>
            <a:off x="830580" y="1070610"/>
            <a:ext cx="6096000" cy="460375"/>
          </a:xfrm>
          <a:prstGeom prst="rect">
            <a:avLst/>
          </a:prstGeom>
          <a:noFill/>
        </p:spPr>
        <p:txBody>
          <a:bodyPr wrap="square" rtlCol="0" anchor="t">
            <a:spAutoFit/>
          </a:bodyPr>
          <a:p>
            <a:r>
              <a:rPr kumimoji="1" lang="zh-CN" altLang="en-US" sz="2400" b="1" noProof="0" dirty="0">
                <a:solidFill>
                  <a:schemeClr val="tx1"/>
                </a:solidFill>
                <a:effectLst/>
                <a:uLnTx/>
                <a:uFillTx/>
                <a:latin typeface="微软雅黑" panose="020B0503020204020204" pitchFamily="34" charset="-122"/>
                <a:ea typeface="微软雅黑" panose="020B0503020204020204" pitchFamily="34" charset="-122"/>
                <a:sym typeface="+mn-ea"/>
              </a:rPr>
              <a:t>时间安</a:t>
            </a:r>
            <a:r>
              <a:rPr kumimoji="1" lang="zh-CN" altLang="en-US" sz="2400" b="1" noProof="0" dirty="0">
                <a:solidFill>
                  <a:schemeClr val="tx1"/>
                </a:solidFill>
                <a:effectLst/>
                <a:uLnTx/>
                <a:uFillTx/>
                <a:latin typeface="微软雅黑" panose="020B0503020204020204" pitchFamily="34" charset="-122"/>
                <a:ea typeface="微软雅黑" panose="020B0503020204020204" pitchFamily="34" charset="-122"/>
                <a:sym typeface="+mn-ea"/>
              </a:rPr>
              <a:t>排：</a:t>
            </a:r>
            <a:endParaRPr kumimoji="1" lang="zh-CN" altLang="en-US" sz="2400" b="1" noProof="0" dirty="0">
              <a:solidFill>
                <a:schemeClr val="tx1"/>
              </a:solidFill>
              <a:effectLst/>
              <a:uLnTx/>
              <a:uFillTx/>
              <a:latin typeface="微软雅黑" panose="020B0503020204020204" pitchFamily="34" charset="-122"/>
              <a:ea typeface="微软雅黑" panose="020B0503020204020204" pitchFamily="34" charset="-122"/>
              <a:sym typeface="+mn-ea"/>
            </a:endParaRPr>
          </a:p>
        </p:txBody>
      </p:sp>
      <p:sp>
        <p:nvSpPr>
          <p:cNvPr id="9" name="文本框 8"/>
          <p:cNvSpPr txBox="1"/>
          <p:nvPr/>
        </p:nvSpPr>
        <p:spPr>
          <a:xfrm>
            <a:off x="2411730" y="1070610"/>
            <a:ext cx="4011930" cy="460375"/>
          </a:xfrm>
          <a:prstGeom prst="rect">
            <a:avLst/>
          </a:prstGeom>
          <a:noFill/>
        </p:spPr>
        <p:txBody>
          <a:bodyPr wrap="square" rtlCol="0">
            <a:spAutoFit/>
          </a:bodyPr>
          <a:p>
            <a:r>
              <a:rPr lang="zh-CN" altLang="en-US" sz="2400"/>
              <a:t>共三次课，每次课</a:t>
            </a:r>
            <a:r>
              <a:rPr lang="en-US" altLang="zh-CN" sz="2400"/>
              <a:t>4</a:t>
            </a:r>
            <a:r>
              <a:rPr lang="zh-CN" altLang="en-US" sz="2400"/>
              <a:t>个小时</a:t>
            </a:r>
            <a:endParaRPr lang="zh-CN" altLang="en-US" sz="2400"/>
          </a:p>
        </p:txBody>
      </p:sp>
      <p:sp>
        <p:nvSpPr>
          <p:cNvPr id="10" name="文本框 9"/>
          <p:cNvSpPr txBox="1"/>
          <p:nvPr/>
        </p:nvSpPr>
        <p:spPr>
          <a:xfrm>
            <a:off x="830580" y="1638935"/>
            <a:ext cx="6096000" cy="460375"/>
          </a:xfrm>
          <a:prstGeom prst="rect">
            <a:avLst/>
          </a:prstGeom>
          <a:noFill/>
        </p:spPr>
        <p:txBody>
          <a:bodyPr wrap="square" rtlCol="0" anchor="t">
            <a:spAutoFit/>
          </a:bodyPr>
          <a:p>
            <a:r>
              <a:rPr kumimoji="1" lang="zh-CN" altLang="en-US" sz="2400" b="1" noProof="0" dirty="0">
                <a:solidFill>
                  <a:schemeClr val="tx1"/>
                </a:solidFill>
                <a:effectLst/>
                <a:uLnTx/>
                <a:uFillTx/>
                <a:latin typeface="微软雅黑" panose="020B0503020204020204" pitchFamily="34" charset="-122"/>
                <a:ea typeface="微软雅黑" panose="020B0503020204020204" pitchFamily="34" charset="-122"/>
                <a:sym typeface="+mn-ea"/>
              </a:rPr>
              <a:t>实验要求：</a:t>
            </a:r>
            <a:endParaRPr kumimoji="1" lang="zh-CN" altLang="en-US" sz="2400" b="1" noProof="0" dirty="0">
              <a:solidFill>
                <a:schemeClr val="tx1"/>
              </a:solidFill>
              <a:effectLst/>
              <a:uLnTx/>
              <a:uFillTx/>
              <a:latin typeface="微软雅黑" panose="020B0503020204020204" pitchFamily="34" charset="-122"/>
              <a:ea typeface="微软雅黑" panose="020B0503020204020204" pitchFamily="34" charset="-122"/>
              <a:sym typeface="+mn-ea"/>
            </a:endParaRPr>
          </a:p>
        </p:txBody>
      </p:sp>
      <p:sp>
        <p:nvSpPr>
          <p:cNvPr id="11" name="文本框 10"/>
          <p:cNvSpPr txBox="1"/>
          <p:nvPr/>
        </p:nvSpPr>
        <p:spPr>
          <a:xfrm>
            <a:off x="830580" y="2012950"/>
            <a:ext cx="10397490" cy="4523105"/>
          </a:xfrm>
          <a:prstGeom prst="rect">
            <a:avLst/>
          </a:prstGeom>
          <a:noFill/>
        </p:spPr>
        <p:txBody>
          <a:bodyPr wrap="square" rtlCol="0">
            <a:spAutoFit/>
          </a:bodyPr>
          <a:p>
            <a:pPr indent="0" fontAlgn="auto">
              <a:lnSpc>
                <a:spcPct val="150000"/>
              </a:lnSpc>
            </a:pPr>
            <a:r>
              <a:rPr lang="zh-CN" altLang="en-US" sz="2400"/>
              <a:t>通过给定数据，使用支持向量机算法（</a:t>
            </a:r>
            <a:r>
              <a:rPr lang="en-US" altLang="zh-CN" sz="2400"/>
              <a:t>SVM</a:t>
            </a:r>
            <a:r>
              <a:rPr lang="zh-CN" altLang="en-US" sz="2400"/>
              <a:t>）实现分类预测，</a:t>
            </a:r>
            <a:r>
              <a:rPr lang="zh-CN" altLang="en-US" sz="2400"/>
              <a:t>具体为：</a:t>
            </a:r>
            <a:endParaRPr lang="zh-CN" altLang="en-US" sz="2400"/>
          </a:p>
          <a:p>
            <a:pPr marL="342900" indent="-342900" fontAlgn="auto">
              <a:lnSpc>
                <a:spcPct val="150000"/>
              </a:lnSpc>
              <a:buFont typeface="Arial" panose="020B0604020202090204" pitchFamily="34" charset="0"/>
              <a:buChar char="•"/>
            </a:pPr>
            <a:r>
              <a:rPr lang="zh-CN" altLang="en-US" sz="2400"/>
              <a:t>筛选变量（如：行程起始点与</a:t>
            </a:r>
            <a:r>
              <a:rPr lang="zh-CN" altLang="en-US" sz="2400"/>
              <a:t>结束点、时间等），进行数据预处理（</a:t>
            </a:r>
            <a:r>
              <a:rPr lang="zh-CN" altLang="en-US" sz="2400"/>
              <a:t>如：处理缺失值、异常值、归一化</a:t>
            </a:r>
            <a:r>
              <a:rPr lang="en-US" altLang="zh-CN" sz="2400"/>
              <a:t>/</a:t>
            </a:r>
            <a:r>
              <a:rPr lang="zh-CN" altLang="en-US" sz="2400"/>
              <a:t>标准化数据</a:t>
            </a:r>
            <a:r>
              <a:rPr lang="zh-CN" altLang="en-US" sz="2400"/>
              <a:t>）</a:t>
            </a:r>
            <a:endParaRPr lang="zh-CN" altLang="en-US" sz="2400"/>
          </a:p>
          <a:p>
            <a:pPr marL="342900" indent="-342900" fontAlgn="auto">
              <a:lnSpc>
                <a:spcPct val="150000"/>
              </a:lnSpc>
              <a:buFont typeface="Arial" panose="020B0604020202090204" pitchFamily="34" charset="0"/>
              <a:buChar char="•"/>
            </a:pPr>
            <a:r>
              <a:rPr lang="zh-CN" altLang="en-US" sz="2400"/>
              <a:t>使用</a:t>
            </a:r>
            <a:r>
              <a:rPr lang="en-US" altLang="zh-CN" sz="2400"/>
              <a:t>SVM</a:t>
            </a:r>
            <a:r>
              <a:rPr lang="zh-CN" altLang="en-US" sz="2400"/>
              <a:t>算法实现对华盛顿共享单车用户类型（会员</a:t>
            </a:r>
            <a:r>
              <a:rPr lang="en-US" altLang="zh-CN" sz="2400"/>
              <a:t>/</a:t>
            </a:r>
            <a:r>
              <a:rPr lang="zh-CN" altLang="en-US" sz="2400"/>
              <a:t>散户）的分类预测（</a:t>
            </a:r>
            <a:r>
              <a:rPr lang="zh-CN" altLang="en-US" sz="2400">
                <a:solidFill>
                  <a:srgbClr val="FF0000"/>
                </a:solidFill>
              </a:rPr>
              <a:t>注：</a:t>
            </a:r>
            <a:r>
              <a:rPr lang="zh-CN" altLang="en-US" sz="2400"/>
              <a:t>要求使用给定数据集，并且使用</a:t>
            </a:r>
            <a:r>
              <a:rPr lang="en-US" altLang="zh-CN" sz="2400"/>
              <a:t>python</a:t>
            </a:r>
            <a:r>
              <a:rPr lang="zh-CN" altLang="en-US" sz="2400"/>
              <a:t>进行数据</a:t>
            </a:r>
            <a:r>
              <a:rPr lang="zh-CN" altLang="en-US" sz="2400"/>
              <a:t>处理）</a:t>
            </a:r>
            <a:endParaRPr lang="zh-CN" altLang="en-US" sz="2400"/>
          </a:p>
          <a:p>
            <a:pPr marL="342900" indent="-342900" fontAlgn="auto">
              <a:lnSpc>
                <a:spcPct val="150000"/>
              </a:lnSpc>
              <a:buFont typeface="Arial" panose="020B0604020202090204" pitchFamily="34" charset="0"/>
              <a:buChar char="•"/>
            </a:pPr>
            <a:r>
              <a:rPr lang="zh-CN" altLang="en-US" sz="2400"/>
              <a:t>训练和预测的数据比例为：</a:t>
            </a:r>
            <a:r>
              <a:rPr lang="en-US" altLang="zh-CN" sz="2400"/>
              <a:t>80%</a:t>
            </a:r>
            <a:r>
              <a:rPr lang="zh-CN" altLang="en-US" sz="2400"/>
              <a:t>：</a:t>
            </a:r>
            <a:r>
              <a:rPr lang="en-US" altLang="zh-CN" sz="2400"/>
              <a:t>20%</a:t>
            </a:r>
            <a:r>
              <a:rPr lang="zh-CN" altLang="en-US" sz="2400"/>
              <a:t>，给出明确的实验准确度验证</a:t>
            </a:r>
            <a:r>
              <a:rPr lang="zh-CN" altLang="en-US" sz="2400"/>
              <a:t>过程</a:t>
            </a:r>
            <a:endParaRPr lang="zh-CN" altLang="en-US" sz="2400"/>
          </a:p>
          <a:p>
            <a:pPr marL="342900" indent="-342900" fontAlgn="auto">
              <a:lnSpc>
                <a:spcPct val="150000"/>
              </a:lnSpc>
              <a:buFont typeface="Arial" panose="020B0604020202090204" pitchFamily="34" charset="0"/>
              <a:buChar char="•"/>
            </a:pPr>
            <a:r>
              <a:rPr lang="zh-CN" altLang="en-US" sz="2400"/>
              <a:t>此外根据数据集中的其他变量进行进一步分析，探索不同因素对用户</a:t>
            </a:r>
            <a:r>
              <a:rPr lang="zh-CN" altLang="en-US" sz="2400"/>
              <a:t>类型的影响强度，期待有新的发现，并完成</a:t>
            </a:r>
            <a:r>
              <a:rPr lang="zh-CN" altLang="en-US" sz="2400"/>
              <a:t>报告</a:t>
            </a:r>
            <a:endParaRPr lang="zh-CN" altLang="en-US" sz="240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线连接符 24"/>
          <p:cNvCxnSpPr/>
          <p:nvPr/>
        </p:nvCxnSpPr>
        <p:spPr>
          <a:xfrm>
            <a:off x="830385" y="884888"/>
            <a:ext cx="10801927" cy="0"/>
          </a:xfrm>
          <a:prstGeom prst="line">
            <a:avLst/>
          </a:prstGeom>
          <a:ln w="38100"/>
        </p:spPr>
        <p:style>
          <a:lnRef idx="3">
            <a:schemeClr val="accent1"/>
          </a:lnRef>
          <a:fillRef idx="0">
            <a:schemeClr val="accent1"/>
          </a:fillRef>
          <a:effectRef idx="2">
            <a:schemeClr val="accent1"/>
          </a:effectRef>
          <a:fontRef idx="minor">
            <a:schemeClr val="tx1"/>
          </a:fontRef>
        </p:style>
      </p:cxnSp>
      <p:sp>
        <p:nvSpPr>
          <p:cNvPr id="8" name="矩形 7"/>
          <p:cNvSpPr/>
          <p:nvPr/>
        </p:nvSpPr>
        <p:spPr>
          <a:xfrm>
            <a:off x="0" y="6579283"/>
            <a:ext cx="12192000" cy="278717"/>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13" name="灯片编号占位符 1"/>
          <p:cNvSpPr>
            <a:spLocks noGrp="1"/>
          </p:cNvSpPr>
          <p:nvPr>
            <p:ph type="sldNum" sz="quarter" idx="12"/>
          </p:nvPr>
        </p:nvSpPr>
        <p:spPr>
          <a:xfrm>
            <a:off x="11057691" y="334846"/>
            <a:ext cx="555674" cy="365125"/>
          </a:xfrm>
        </p:spPr>
        <p:txBody>
          <a:bodyPr/>
          <a:p>
            <a:pPr algn="ctr" defTabSz="457200">
              <a:defRPr/>
            </a:pPr>
            <a:fld id="{791702D1-1167-4612-BF8C-6B16D0213C9E}" type="slidenum">
              <a:rPr lang="zh-CN" altLang="en-US" sz="2000" b="1">
                <a:solidFill>
                  <a:prstClr val="white"/>
                </a:solidFill>
                <a:latin typeface="微软雅黑" panose="020B0503020204020204" pitchFamily="34" charset="-122"/>
                <a:ea typeface="微软雅黑" panose="020B0503020204020204" pitchFamily="34" charset="-122"/>
              </a:rPr>
            </a:fld>
            <a:endParaRPr lang="zh-CN" altLang="en-US" sz="2000" b="1" dirty="0">
              <a:solidFill>
                <a:prstClr val="white"/>
              </a:solidFill>
              <a:latin typeface="微软雅黑" panose="020B0503020204020204" pitchFamily="34" charset="-122"/>
              <a:ea typeface="微软雅黑" panose="020B0503020204020204" pitchFamily="34" charset="-122"/>
            </a:endParaRPr>
          </a:p>
        </p:txBody>
      </p:sp>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692548" y="315234"/>
            <a:ext cx="420197" cy="430358"/>
          </a:xfrm>
          <a:prstGeom prst="rect">
            <a:avLst/>
          </a:prstGeom>
          <a:noFill/>
          <a:extLst>
            <a:ext uri="{909E8E84-426E-40DD-AFC4-6F175D3DCCD1}">
              <a14:hiddenFill xmlns:a14="http://schemas.microsoft.com/office/drawing/2010/main">
                <a:solidFill>
                  <a:srgbClr val="FFFFFF"/>
                </a:solidFill>
              </a14:hiddenFill>
            </a:ext>
          </a:extLst>
        </p:spPr>
      </p:pic>
      <p:pic>
        <p:nvPicPr>
          <p:cNvPr id="15" name="图片 14"/>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0239874" y="326321"/>
            <a:ext cx="1236889" cy="392355"/>
          </a:xfrm>
          <a:prstGeom prst="rect">
            <a:avLst/>
          </a:prstGeom>
        </p:spPr>
      </p:pic>
      <p:sp>
        <p:nvSpPr>
          <p:cNvPr id="10" name="文本框 9"/>
          <p:cNvSpPr txBox="1"/>
          <p:nvPr/>
        </p:nvSpPr>
        <p:spPr>
          <a:xfrm>
            <a:off x="830580" y="1070610"/>
            <a:ext cx="6096000" cy="460375"/>
          </a:xfrm>
          <a:prstGeom prst="rect">
            <a:avLst/>
          </a:prstGeom>
          <a:noFill/>
        </p:spPr>
        <p:txBody>
          <a:bodyPr wrap="square" rtlCol="0" anchor="t">
            <a:spAutoFit/>
          </a:bodyPr>
          <a:p>
            <a:r>
              <a:rPr kumimoji="1" lang="zh-CN" altLang="en-US" sz="2400" b="1" noProof="0" dirty="0">
                <a:solidFill>
                  <a:schemeClr val="tx1"/>
                </a:solidFill>
                <a:effectLst/>
                <a:uLnTx/>
                <a:uFillTx/>
                <a:latin typeface="微软雅黑" panose="020B0503020204020204" pitchFamily="34" charset="-122"/>
                <a:ea typeface="微软雅黑" panose="020B0503020204020204" pitchFamily="34" charset="-122"/>
                <a:sym typeface="+mn-ea"/>
              </a:rPr>
              <a:t>实验报告</a:t>
            </a:r>
            <a:r>
              <a:rPr kumimoji="1" lang="zh-CN" altLang="en-US" sz="2400" b="1" noProof="0" dirty="0">
                <a:solidFill>
                  <a:schemeClr val="tx1"/>
                </a:solidFill>
                <a:effectLst/>
                <a:uLnTx/>
                <a:uFillTx/>
                <a:latin typeface="微软雅黑" panose="020B0503020204020204" pitchFamily="34" charset="-122"/>
                <a:ea typeface="微软雅黑" panose="020B0503020204020204" pitchFamily="34" charset="-122"/>
                <a:sym typeface="+mn-ea"/>
              </a:rPr>
              <a:t>内容：</a:t>
            </a:r>
            <a:endParaRPr kumimoji="1" lang="zh-CN" altLang="en-US" sz="2400" b="1" noProof="0" dirty="0">
              <a:solidFill>
                <a:schemeClr val="tx1"/>
              </a:solidFill>
              <a:effectLst/>
              <a:uLnTx/>
              <a:uFillTx/>
              <a:latin typeface="微软雅黑" panose="020B0503020204020204" pitchFamily="34" charset="-122"/>
              <a:ea typeface="微软雅黑" panose="020B0503020204020204" pitchFamily="34" charset="-122"/>
              <a:sym typeface="+mn-ea"/>
            </a:endParaRPr>
          </a:p>
        </p:txBody>
      </p:sp>
      <p:sp>
        <p:nvSpPr>
          <p:cNvPr id="11" name="文本框 10"/>
          <p:cNvSpPr txBox="1"/>
          <p:nvPr/>
        </p:nvSpPr>
        <p:spPr>
          <a:xfrm>
            <a:off x="830580" y="1844040"/>
            <a:ext cx="10397490" cy="3415030"/>
          </a:xfrm>
          <a:prstGeom prst="rect">
            <a:avLst/>
          </a:prstGeom>
          <a:noFill/>
        </p:spPr>
        <p:txBody>
          <a:bodyPr wrap="square" rtlCol="0">
            <a:spAutoFit/>
          </a:bodyPr>
          <a:p>
            <a:pPr indent="0" fontAlgn="auto">
              <a:lnSpc>
                <a:spcPct val="150000"/>
              </a:lnSpc>
            </a:pPr>
            <a:r>
              <a:rPr lang="zh-CN" altLang="en-US" sz="2400"/>
              <a:t>实验问题，实验目标，数据介绍（需要文字介绍，并辅助配合时间、空间、多因素分布等图表），实验方法（统一要求使用支持向量机算法（</a:t>
            </a:r>
            <a:r>
              <a:rPr lang="en-US" altLang="zh-CN" sz="2400"/>
              <a:t>SVM</a:t>
            </a:r>
            <a:r>
              <a:rPr lang="zh-CN" altLang="en-US" sz="2400"/>
              <a:t>），并且要将算法流程及公式、数据处理流程、实验验证流程、完整写入方法章节、并配有实验流程图与算法流程图），实验结果（需要标注参数设置，预测准确度等），实验结果分析（支持有多图表的实验结果，分析不同因素对实验结果的重要性等，有趣的发现额外</a:t>
            </a:r>
            <a:r>
              <a:rPr lang="zh-CN" altLang="en-US" sz="2400"/>
              <a:t>加分）</a:t>
            </a:r>
            <a:endParaRPr lang="zh-CN" altLang="en-US" sz="240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线连接符 24"/>
          <p:cNvCxnSpPr/>
          <p:nvPr/>
        </p:nvCxnSpPr>
        <p:spPr>
          <a:xfrm>
            <a:off x="830385" y="884888"/>
            <a:ext cx="10801927" cy="0"/>
          </a:xfrm>
          <a:prstGeom prst="line">
            <a:avLst/>
          </a:prstGeom>
          <a:ln w="38100"/>
        </p:spPr>
        <p:style>
          <a:lnRef idx="3">
            <a:schemeClr val="accent1"/>
          </a:lnRef>
          <a:fillRef idx="0">
            <a:schemeClr val="accent1"/>
          </a:fillRef>
          <a:effectRef idx="2">
            <a:schemeClr val="accent1"/>
          </a:effectRef>
          <a:fontRef idx="minor">
            <a:schemeClr val="tx1"/>
          </a:fontRef>
        </p:style>
      </p:cxnSp>
      <p:sp>
        <p:nvSpPr>
          <p:cNvPr id="8" name="矩形 7"/>
          <p:cNvSpPr/>
          <p:nvPr/>
        </p:nvSpPr>
        <p:spPr>
          <a:xfrm>
            <a:off x="0" y="6579283"/>
            <a:ext cx="12192000" cy="278717"/>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13" name="灯片编号占位符 1"/>
          <p:cNvSpPr>
            <a:spLocks noGrp="1"/>
          </p:cNvSpPr>
          <p:nvPr>
            <p:ph type="sldNum" sz="quarter" idx="12"/>
          </p:nvPr>
        </p:nvSpPr>
        <p:spPr>
          <a:xfrm>
            <a:off x="11057691" y="334846"/>
            <a:ext cx="555674" cy="365125"/>
          </a:xfrm>
        </p:spPr>
        <p:txBody>
          <a:bodyPr/>
          <a:p>
            <a:pPr algn="ctr" defTabSz="457200">
              <a:defRPr/>
            </a:pPr>
            <a:fld id="{791702D1-1167-4612-BF8C-6B16D0213C9E}" type="slidenum">
              <a:rPr lang="zh-CN" altLang="en-US" sz="2000" b="1">
                <a:solidFill>
                  <a:prstClr val="white"/>
                </a:solidFill>
                <a:latin typeface="微软雅黑" panose="020B0503020204020204" pitchFamily="34" charset="-122"/>
                <a:ea typeface="微软雅黑" panose="020B0503020204020204" pitchFamily="34" charset="-122"/>
              </a:rPr>
            </a:fld>
            <a:endParaRPr lang="zh-CN" altLang="en-US" sz="2000" b="1" dirty="0">
              <a:solidFill>
                <a:prstClr val="white"/>
              </a:solidFill>
              <a:latin typeface="微软雅黑" panose="020B0503020204020204" pitchFamily="34" charset="-122"/>
              <a:ea typeface="微软雅黑" panose="020B0503020204020204" pitchFamily="34" charset="-122"/>
            </a:endParaRPr>
          </a:p>
        </p:txBody>
      </p:sp>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692548" y="315234"/>
            <a:ext cx="420197" cy="430358"/>
          </a:xfrm>
          <a:prstGeom prst="rect">
            <a:avLst/>
          </a:prstGeom>
          <a:noFill/>
          <a:extLst>
            <a:ext uri="{909E8E84-426E-40DD-AFC4-6F175D3DCCD1}">
              <a14:hiddenFill xmlns:a14="http://schemas.microsoft.com/office/drawing/2010/main">
                <a:solidFill>
                  <a:srgbClr val="FFFFFF"/>
                </a:solidFill>
              </a14:hiddenFill>
            </a:ext>
          </a:extLst>
        </p:spPr>
      </p:pic>
      <p:pic>
        <p:nvPicPr>
          <p:cNvPr id="15" name="图片 14"/>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0239874" y="326321"/>
            <a:ext cx="1236889" cy="392355"/>
          </a:xfrm>
          <a:prstGeom prst="rect">
            <a:avLst/>
          </a:prstGeom>
        </p:spPr>
      </p:pic>
      <p:sp>
        <p:nvSpPr>
          <p:cNvPr id="10" name="文本框 9"/>
          <p:cNvSpPr txBox="1"/>
          <p:nvPr/>
        </p:nvSpPr>
        <p:spPr>
          <a:xfrm>
            <a:off x="429895" y="1127760"/>
            <a:ext cx="6096000" cy="460375"/>
          </a:xfrm>
          <a:prstGeom prst="rect">
            <a:avLst/>
          </a:prstGeom>
          <a:noFill/>
        </p:spPr>
        <p:txBody>
          <a:bodyPr wrap="square" rtlCol="0" anchor="t">
            <a:spAutoFit/>
          </a:bodyPr>
          <a:p>
            <a:r>
              <a:rPr kumimoji="1" lang="zh-CN" altLang="en-US" sz="2400" b="1" noProof="0" dirty="0">
                <a:solidFill>
                  <a:schemeClr val="tx1"/>
                </a:solidFill>
                <a:effectLst/>
                <a:uLnTx/>
                <a:uFillTx/>
                <a:latin typeface="微软雅黑" panose="020B0503020204020204" pitchFamily="34" charset="-122"/>
                <a:ea typeface="微软雅黑" panose="020B0503020204020204" pitchFamily="34" charset="-122"/>
                <a:sym typeface="+mn-ea"/>
              </a:rPr>
              <a:t>实验数据集</a:t>
            </a:r>
            <a:r>
              <a:rPr kumimoji="1" lang="zh-CN" altLang="en-US" sz="2400" b="1" noProof="0" dirty="0">
                <a:solidFill>
                  <a:schemeClr val="tx1"/>
                </a:solidFill>
                <a:effectLst/>
                <a:uLnTx/>
                <a:uFillTx/>
                <a:latin typeface="微软雅黑" panose="020B0503020204020204" pitchFamily="34" charset="-122"/>
                <a:ea typeface="微软雅黑" panose="020B0503020204020204" pitchFamily="34" charset="-122"/>
                <a:sym typeface="+mn-ea"/>
              </a:rPr>
              <a:t>说明：</a:t>
            </a:r>
            <a:endParaRPr kumimoji="1" lang="zh-CN" altLang="en-US" sz="2400" b="1" noProof="0" dirty="0">
              <a:solidFill>
                <a:schemeClr val="tx1"/>
              </a:solidFill>
              <a:effectLst/>
              <a:uLnTx/>
              <a:uFillTx/>
              <a:latin typeface="微软雅黑" panose="020B0503020204020204" pitchFamily="34" charset="-122"/>
              <a:ea typeface="微软雅黑" panose="020B0503020204020204" pitchFamily="34" charset="-122"/>
              <a:sym typeface="+mn-ea"/>
            </a:endParaRPr>
          </a:p>
        </p:txBody>
      </p:sp>
      <p:sp>
        <p:nvSpPr>
          <p:cNvPr id="11" name="文本框 10"/>
          <p:cNvSpPr txBox="1"/>
          <p:nvPr/>
        </p:nvSpPr>
        <p:spPr>
          <a:xfrm>
            <a:off x="429895" y="1770380"/>
            <a:ext cx="11370945" cy="3784600"/>
          </a:xfrm>
          <a:prstGeom prst="rect">
            <a:avLst/>
          </a:prstGeom>
          <a:noFill/>
        </p:spPr>
        <p:txBody>
          <a:bodyPr wrap="square" rtlCol="0">
            <a:spAutoFit/>
          </a:bodyPr>
          <a:p>
            <a:pPr indent="0" fontAlgn="auto">
              <a:lnSpc>
                <a:spcPct val="150000"/>
              </a:lnSpc>
            </a:pPr>
            <a:r>
              <a:rPr lang="zh-CN" altLang="en-US" sz="2000"/>
              <a:t>数据集：</a:t>
            </a:r>
            <a:r>
              <a:rPr lang="en-US" altLang="zh-CN" sz="2000"/>
              <a:t>Capital Bikeshare</a:t>
            </a:r>
            <a:r>
              <a:rPr lang="zh-CN" altLang="en-US" sz="2000"/>
              <a:t>公布的华盛顿都会区的共享单车轨迹数据</a:t>
            </a:r>
            <a:r>
              <a:rPr lang="en-US" altLang="zh-CN" sz="2000"/>
              <a:t>，</a:t>
            </a:r>
            <a:r>
              <a:rPr lang="zh-CN" altLang="en-US" sz="2000"/>
              <a:t>包括</a:t>
            </a:r>
            <a:r>
              <a:rPr lang="en-US" altLang="zh-CN" sz="2000"/>
              <a:t>2025</a:t>
            </a:r>
            <a:r>
              <a:rPr lang="zh-CN" altLang="en-US" sz="2000"/>
              <a:t>年</a:t>
            </a:r>
            <a:r>
              <a:rPr lang="en-US" altLang="zh-CN" sz="2000"/>
              <a:t>1</a:t>
            </a:r>
            <a:r>
              <a:rPr lang="zh-CN" altLang="en-US" sz="2000"/>
              <a:t>月到</a:t>
            </a:r>
            <a:r>
              <a:rPr lang="en-US" altLang="zh-CN" sz="2000"/>
              <a:t>12</a:t>
            </a:r>
            <a:r>
              <a:rPr lang="zh-CN" altLang="en-US" sz="2000"/>
              <a:t>月的共享单车数据</a:t>
            </a:r>
            <a:r>
              <a:rPr lang="en-US" altLang="zh-CN" sz="2000"/>
              <a:t>。</a:t>
            </a:r>
            <a:endParaRPr lang="zh-CN" altLang="en-US" sz="2000"/>
          </a:p>
          <a:p>
            <a:pPr indent="0" fontAlgn="auto">
              <a:lnSpc>
                <a:spcPct val="150000"/>
              </a:lnSpc>
            </a:pPr>
            <a:r>
              <a:rPr lang="zh-CN" altLang="en-US" sz="2000"/>
              <a:t>本实验无需使用全部原始数据。为保证样本规模适中且具有时间代表性，可从连续 12 个月的数据中按月进行抽样。每个月可采用随机抽样或规则抽样的方式选取一定数量的样本，并在实验报告中明确说明最终选取的数据总量、每个月的样本数量、抽样规则以及样本在 12 个月中的分布情况。</a:t>
            </a:r>
            <a:endParaRPr lang="zh-CN" altLang="en-US" sz="2000"/>
          </a:p>
          <a:p>
            <a:pPr indent="0" fontAlgn="auto">
              <a:lnSpc>
                <a:spcPct val="150000"/>
              </a:lnSpc>
            </a:pPr>
            <a:r>
              <a:rPr lang="zh-CN" altLang="en-US" sz="2000"/>
              <a:t>需要注意的是，原始数据中不同类别的样本分布存在不平衡问题。因此，在数据选取过程中，应尽量采用分层抽样策略，即在每个月内分别按照不同类别进行抽取，使正负样本或不同用户类型的样本数量尽可能均衡以避免模型训练过程中过度偏向样本量较大的类别。</a:t>
            </a:r>
            <a:endParaRPr lang="zh-CN" altLang="en-US" sz="200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线连接符 24"/>
          <p:cNvCxnSpPr/>
          <p:nvPr/>
        </p:nvCxnSpPr>
        <p:spPr>
          <a:xfrm>
            <a:off x="830385" y="884888"/>
            <a:ext cx="10801927" cy="0"/>
          </a:xfrm>
          <a:prstGeom prst="line">
            <a:avLst/>
          </a:prstGeom>
          <a:ln w="38100"/>
        </p:spPr>
        <p:style>
          <a:lnRef idx="3">
            <a:schemeClr val="accent1"/>
          </a:lnRef>
          <a:fillRef idx="0">
            <a:schemeClr val="accent1"/>
          </a:fillRef>
          <a:effectRef idx="2">
            <a:schemeClr val="accent1"/>
          </a:effectRef>
          <a:fontRef idx="minor">
            <a:schemeClr val="tx1"/>
          </a:fontRef>
        </p:style>
      </p:cxnSp>
      <p:sp>
        <p:nvSpPr>
          <p:cNvPr id="8" name="矩形 7"/>
          <p:cNvSpPr/>
          <p:nvPr/>
        </p:nvSpPr>
        <p:spPr>
          <a:xfrm>
            <a:off x="0" y="6579283"/>
            <a:ext cx="12192000" cy="278717"/>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13" name="灯片编号占位符 1"/>
          <p:cNvSpPr>
            <a:spLocks noGrp="1"/>
          </p:cNvSpPr>
          <p:nvPr>
            <p:ph type="sldNum" sz="quarter" idx="12"/>
          </p:nvPr>
        </p:nvSpPr>
        <p:spPr>
          <a:xfrm>
            <a:off x="11057691" y="334846"/>
            <a:ext cx="555674" cy="365125"/>
          </a:xfrm>
        </p:spPr>
        <p:txBody>
          <a:bodyPr/>
          <a:p>
            <a:pPr algn="ctr" defTabSz="457200">
              <a:defRPr/>
            </a:pPr>
            <a:fld id="{791702D1-1167-4612-BF8C-6B16D0213C9E}" type="slidenum">
              <a:rPr lang="zh-CN" altLang="en-US" sz="2000" b="1">
                <a:solidFill>
                  <a:prstClr val="white"/>
                </a:solidFill>
                <a:latin typeface="微软雅黑" panose="020B0503020204020204" pitchFamily="34" charset="-122"/>
                <a:ea typeface="微软雅黑" panose="020B0503020204020204" pitchFamily="34" charset="-122"/>
              </a:rPr>
            </a:fld>
            <a:endParaRPr lang="zh-CN" altLang="en-US" sz="2000" b="1" dirty="0">
              <a:solidFill>
                <a:prstClr val="white"/>
              </a:solidFill>
              <a:latin typeface="微软雅黑" panose="020B0503020204020204" pitchFamily="34" charset="-122"/>
              <a:ea typeface="微软雅黑" panose="020B0503020204020204" pitchFamily="34" charset="-122"/>
            </a:endParaRPr>
          </a:p>
        </p:txBody>
      </p:sp>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692548" y="315234"/>
            <a:ext cx="420197" cy="430358"/>
          </a:xfrm>
          <a:prstGeom prst="rect">
            <a:avLst/>
          </a:prstGeom>
          <a:noFill/>
          <a:extLst>
            <a:ext uri="{909E8E84-426E-40DD-AFC4-6F175D3DCCD1}">
              <a14:hiddenFill xmlns:a14="http://schemas.microsoft.com/office/drawing/2010/main">
                <a:solidFill>
                  <a:srgbClr val="FFFFFF"/>
                </a:solidFill>
              </a14:hiddenFill>
            </a:ext>
          </a:extLst>
        </p:spPr>
      </p:pic>
      <p:pic>
        <p:nvPicPr>
          <p:cNvPr id="15" name="图片 14"/>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0239874" y="326321"/>
            <a:ext cx="1236889" cy="392355"/>
          </a:xfrm>
          <a:prstGeom prst="rect">
            <a:avLst/>
          </a:prstGeom>
        </p:spPr>
      </p:pic>
      <p:sp>
        <p:nvSpPr>
          <p:cNvPr id="10" name="文本框 9"/>
          <p:cNvSpPr txBox="1"/>
          <p:nvPr/>
        </p:nvSpPr>
        <p:spPr>
          <a:xfrm>
            <a:off x="429895" y="1116330"/>
            <a:ext cx="6096000" cy="460375"/>
          </a:xfrm>
          <a:prstGeom prst="rect">
            <a:avLst/>
          </a:prstGeom>
          <a:noFill/>
        </p:spPr>
        <p:txBody>
          <a:bodyPr wrap="square" rtlCol="0" anchor="t">
            <a:spAutoFit/>
          </a:bodyPr>
          <a:p>
            <a:r>
              <a:rPr kumimoji="1" lang="zh-CN" altLang="en-US" sz="2400" b="1" noProof="0" dirty="0">
                <a:solidFill>
                  <a:schemeClr val="tx1"/>
                </a:solidFill>
                <a:effectLst/>
                <a:uLnTx/>
                <a:uFillTx/>
                <a:latin typeface="微软雅黑" panose="020B0503020204020204" pitchFamily="34" charset="-122"/>
                <a:ea typeface="微软雅黑" panose="020B0503020204020204" pitchFamily="34" charset="-122"/>
                <a:sym typeface="+mn-ea"/>
              </a:rPr>
              <a:t>实验数据集</a:t>
            </a:r>
            <a:r>
              <a:rPr kumimoji="1" lang="zh-CN" altLang="en-US" sz="2400" b="1" noProof="0" dirty="0">
                <a:solidFill>
                  <a:schemeClr val="tx1"/>
                </a:solidFill>
                <a:effectLst/>
                <a:uLnTx/>
                <a:uFillTx/>
                <a:latin typeface="微软雅黑" panose="020B0503020204020204" pitchFamily="34" charset="-122"/>
                <a:ea typeface="微软雅黑" panose="020B0503020204020204" pitchFamily="34" charset="-122"/>
                <a:sym typeface="+mn-ea"/>
              </a:rPr>
              <a:t>说明：</a:t>
            </a:r>
            <a:endParaRPr kumimoji="1" lang="zh-CN" altLang="en-US" sz="2400" b="1" noProof="0" dirty="0">
              <a:solidFill>
                <a:schemeClr val="tx1"/>
              </a:solidFill>
              <a:effectLst/>
              <a:uLnTx/>
              <a:uFillTx/>
              <a:latin typeface="微软雅黑" panose="020B0503020204020204" pitchFamily="34" charset="-122"/>
              <a:ea typeface="微软雅黑" panose="020B0503020204020204" pitchFamily="34" charset="-122"/>
              <a:sym typeface="+mn-ea"/>
            </a:endParaRPr>
          </a:p>
        </p:txBody>
      </p:sp>
      <p:pic>
        <p:nvPicPr>
          <p:cNvPr id="2" name="图片 1"/>
          <p:cNvPicPr>
            <a:picLocks noChangeAspect="1"/>
          </p:cNvPicPr>
          <p:nvPr/>
        </p:nvPicPr>
        <p:blipFill>
          <a:blip r:embed="rId4"/>
          <a:stretch>
            <a:fillRect/>
          </a:stretch>
        </p:blipFill>
        <p:spPr>
          <a:xfrm>
            <a:off x="3048000" y="1457960"/>
            <a:ext cx="6096635" cy="4832350"/>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线连接符 24"/>
          <p:cNvCxnSpPr/>
          <p:nvPr/>
        </p:nvCxnSpPr>
        <p:spPr>
          <a:xfrm>
            <a:off x="830385" y="884888"/>
            <a:ext cx="10801927" cy="0"/>
          </a:xfrm>
          <a:prstGeom prst="line">
            <a:avLst/>
          </a:prstGeom>
          <a:ln w="38100"/>
        </p:spPr>
        <p:style>
          <a:lnRef idx="3">
            <a:schemeClr val="accent1"/>
          </a:lnRef>
          <a:fillRef idx="0">
            <a:schemeClr val="accent1"/>
          </a:fillRef>
          <a:effectRef idx="2">
            <a:schemeClr val="accent1"/>
          </a:effectRef>
          <a:fontRef idx="minor">
            <a:schemeClr val="tx1"/>
          </a:fontRef>
        </p:style>
      </p:cxnSp>
      <p:sp>
        <p:nvSpPr>
          <p:cNvPr id="8" name="矩形 7"/>
          <p:cNvSpPr/>
          <p:nvPr/>
        </p:nvSpPr>
        <p:spPr>
          <a:xfrm>
            <a:off x="0" y="6579283"/>
            <a:ext cx="12192000" cy="278717"/>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13" name="灯片编号占位符 1"/>
          <p:cNvSpPr>
            <a:spLocks noGrp="1"/>
          </p:cNvSpPr>
          <p:nvPr>
            <p:ph type="sldNum" sz="quarter" idx="12"/>
          </p:nvPr>
        </p:nvSpPr>
        <p:spPr>
          <a:xfrm>
            <a:off x="11057691" y="334846"/>
            <a:ext cx="555674" cy="365125"/>
          </a:xfrm>
        </p:spPr>
        <p:txBody>
          <a:bodyPr/>
          <a:p>
            <a:pPr algn="ctr" defTabSz="457200">
              <a:defRPr/>
            </a:pPr>
            <a:fld id="{791702D1-1167-4612-BF8C-6B16D0213C9E}" type="slidenum">
              <a:rPr lang="zh-CN" altLang="en-US" sz="2000" b="1">
                <a:solidFill>
                  <a:prstClr val="white"/>
                </a:solidFill>
                <a:latin typeface="微软雅黑" panose="020B0503020204020204" pitchFamily="34" charset="-122"/>
                <a:ea typeface="微软雅黑" panose="020B0503020204020204" pitchFamily="34" charset="-122"/>
              </a:rPr>
            </a:fld>
            <a:endParaRPr lang="zh-CN" altLang="en-US" sz="2000" b="1" dirty="0">
              <a:solidFill>
                <a:prstClr val="white"/>
              </a:solidFill>
              <a:latin typeface="微软雅黑" panose="020B0503020204020204" pitchFamily="34" charset="-122"/>
              <a:ea typeface="微软雅黑" panose="020B0503020204020204" pitchFamily="34" charset="-122"/>
            </a:endParaRPr>
          </a:p>
        </p:txBody>
      </p:sp>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692548" y="315234"/>
            <a:ext cx="420197" cy="430358"/>
          </a:xfrm>
          <a:prstGeom prst="rect">
            <a:avLst/>
          </a:prstGeom>
          <a:noFill/>
          <a:extLst>
            <a:ext uri="{909E8E84-426E-40DD-AFC4-6F175D3DCCD1}">
              <a14:hiddenFill xmlns:a14="http://schemas.microsoft.com/office/drawing/2010/main">
                <a:solidFill>
                  <a:srgbClr val="FFFFFF"/>
                </a:solidFill>
              </a14:hiddenFill>
            </a:ext>
          </a:extLst>
        </p:spPr>
      </p:pic>
      <p:pic>
        <p:nvPicPr>
          <p:cNvPr id="15" name="图片 14"/>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0239874" y="326321"/>
            <a:ext cx="1236889" cy="392355"/>
          </a:xfrm>
          <a:prstGeom prst="rect">
            <a:avLst/>
          </a:prstGeom>
        </p:spPr>
      </p:pic>
      <p:sp>
        <p:nvSpPr>
          <p:cNvPr id="10" name="文本框 9"/>
          <p:cNvSpPr txBox="1"/>
          <p:nvPr/>
        </p:nvSpPr>
        <p:spPr>
          <a:xfrm>
            <a:off x="873760" y="1116330"/>
            <a:ext cx="6096000" cy="460375"/>
          </a:xfrm>
          <a:prstGeom prst="rect">
            <a:avLst/>
          </a:prstGeom>
          <a:noFill/>
        </p:spPr>
        <p:txBody>
          <a:bodyPr wrap="square" rtlCol="0" anchor="t">
            <a:spAutoFit/>
          </a:bodyPr>
          <a:p>
            <a:r>
              <a:rPr kumimoji="1" lang="zh-CN" altLang="en-US" sz="2400" b="1" noProof="0" dirty="0">
                <a:solidFill>
                  <a:schemeClr val="tx1"/>
                </a:solidFill>
                <a:effectLst/>
                <a:uLnTx/>
                <a:uFillTx/>
                <a:latin typeface="微软雅黑" panose="020B0503020204020204" pitchFamily="34" charset="-122"/>
                <a:ea typeface="微软雅黑" panose="020B0503020204020204" pitchFamily="34" charset="-122"/>
                <a:sym typeface="+mn-ea"/>
              </a:rPr>
              <a:t>其他</a:t>
            </a:r>
            <a:r>
              <a:rPr kumimoji="1" lang="zh-CN" altLang="en-US" sz="2400" b="1" noProof="0" dirty="0">
                <a:solidFill>
                  <a:schemeClr val="tx1"/>
                </a:solidFill>
                <a:effectLst/>
                <a:uLnTx/>
                <a:uFillTx/>
                <a:latin typeface="微软雅黑" panose="020B0503020204020204" pitchFamily="34" charset="-122"/>
                <a:ea typeface="微软雅黑" panose="020B0503020204020204" pitchFamily="34" charset="-122"/>
                <a:sym typeface="+mn-ea"/>
              </a:rPr>
              <a:t>要求：</a:t>
            </a:r>
            <a:endParaRPr kumimoji="1" lang="zh-CN" altLang="en-US" sz="2400" b="1" noProof="0" dirty="0">
              <a:solidFill>
                <a:schemeClr val="tx1"/>
              </a:solidFill>
              <a:effectLst/>
              <a:uLnTx/>
              <a:uFillTx/>
              <a:latin typeface="微软雅黑" panose="020B0503020204020204" pitchFamily="34" charset="-122"/>
              <a:ea typeface="微软雅黑" panose="020B0503020204020204" pitchFamily="34" charset="-122"/>
              <a:sym typeface="+mn-ea"/>
            </a:endParaRPr>
          </a:p>
        </p:txBody>
      </p:sp>
      <p:sp>
        <p:nvSpPr>
          <p:cNvPr id="11" name="文本框 10"/>
          <p:cNvSpPr txBox="1"/>
          <p:nvPr/>
        </p:nvSpPr>
        <p:spPr>
          <a:xfrm>
            <a:off x="873760" y="1807845"/>
            <a:ext cx="10100310" cy="3969385"/>
          </a:xfrm>
          <a:prstGeom prst="rect">
            <a:avLst/>
          </a:prstGeom>
          <a:noFill/>
        </p:spPr>
        <p:txBody>
          <a:bodyPr wrap="square" rtlCol="0">
            <a:spAutoFit/>
          </a:bodyPr>
          <a:p>
            <a:pPr indent="0" fontAlgn="auto">
              <a:lnSpc>
                <a:spcPct val="150000"/>
              </a:lnSpc>
            </a:pPr>
            <a:r>
              <a:rPr lang="zh-CN" altLang="en-US" sz="2400">
                <a:sym typeface="+mn-ea"/>
              </a:rPr>
              <a:t>正文不少于</a:t>
            </a:r>
            <a:r>
              <a:rPr lang="en-US" altLang="zh-CN" sz="2400">
                <a:sym typeface="+mn-ea"/>
              </a:rPr>
              <a:t> 3500 </a:t>
            </a:r>
            <a:r>
              <a:rPr lang="zh-CN" altLang="en-US" sz="2400">
                <a:sym typeface="+mn-ea"/>
              </a:rPr>
              <a:t>字，建议</a:t>
            </a:r>
            <a:r>
              <a:rPr lang="en-US" altLang="zh-CN" sz="2400">
                <a:sym typeface="+mn-ea"/>
              </a:rPr>
              <a:t> 4000 </a:t>
            </a:r>
            <a:r>
              <a:rPr lang="zh-CN" altLang="en-US" sz="2400">
                <a:sym typeface="+mn-ea"/>
              </a:rPr>
              <a:t>字左右。</a:t>
            </a:r>
            <a:endParaRPr lang="zh-CN" altLang="en-US" sz="2400">
              <a:sym typeface="+mn-ea"/>
            </a:endParaRPr>
          </a:p>
          <a:p>
            <a:pPr indent="0" fontAlgn="auto">
              <a:lnSpc>
                <a:spcPct val="150000"/>
              </a:lnSpc>
            </a:pPr>
            <a:r>
              <a:rPr lang="zh-CN" altLang="en-US" sz="2400">
                <a:sym typeface="+mn-ea"/>
              </a:rPr>
              <a:t>评分标准：</a:t>
            </a:r>
            <a:endParaRPr lang="zh-CN" altLang="en-US" sz="2400">
              <a:sym typeface="+mn-ea"/>
            </a:endParaRPr>
          </a:p>
          <a:p>
            <a:pPr indent="0" fontAlgn="auto">
              <a:lnSpc>
                <a:spcPct val="150000"/>
              </a:lnSpc>
            </a:pPr>
            <a:r>
              <a:rPr lang="zh-CN" altLang="en-US" sz="2400">
                <a:sym typeface="+mn-ea"/>
              </a:rPr>
              <a:t>模型准确度（</a:t>
            </a:r>
            <a:r>
              <a:rPr lang="en-US" altLang="zh-CN" sz="2400">
                <a:sym typeface="+mn-ea"/>
              </a:rPr>
              <a:t>40%</a:t>
            </a:r>
            <a:r>
              <a:rPr lang="zh-CN" altLang="en-US" sz="2400">
                <a:sym typeface="+mn-ea"/>
              </a:rPr>
              <a:t>），实验报告完成质量（</a:t>
            </a:r>
            <a:r>
              <a:rPr lang="en-US" altLang="zh-CN" sz="2400">
                <a:sym typeface="+mn-ea"/>
              </a:rPr>
              <a:t>40%</a:t>
            </a:r>
            <a:r>
              <a:rPr lang="zh-CN" altLang="en-US" sz="2400">
                <a:sym typeface="+mn-ea"/>
              </a:rPr>
              <a:t>），代码完整性可读性（</a:t>
            </a:r>
            <a:r>
              <a:rPr lang="en-US" altLang="zh-CN" sz="2400">
                <a:sym typeface="+mn-ea"/>
              </a:rPr>
              <a:t>20%</a:t>
            </a:r>
            <a:r>
              <a:rPr lang="zh-CN" altLang="en-US" sz="2400">
                <a:sym typeface="+mn-ea"/>
              </a:rPr>
              <a:t>）</a:t>
            </a:r>
            <a:endParaRPr lang="zh-CN" altLang="en-US" sz="2400">
              <a:sym typeface="+mn-ea"/>
            </a:endParaRPr>
          </a:p>
          <a:p>
            <a:pPr indent="0" fontAlgn="auto">
              <a:lnSpc>
                <a:spcPct val="150000"/>
              </a:lnSpc>
            </a:pPr>
            <a:r>
              <a:rPr lang="en-US" altLang="zh-CN" sz="2400">
                <a:sym typeface="+mn-ea"/>
              </a:rPr>
              <a:t>截止时间：最后一次实验课结束</a:t>
            </a:r>
            <a:endParaRPr lang="en-US" altLang="zh-CN" sz="2400">
              <a:sym typeface="+mn-ea"/>
            </a:endParaRPr>
          </a:p>
          <a:p>
            <a:pPr indent="0" fontAlgn="auto">
              <a:lnSpc>
                <a:spcPct val="150000"/>
              </a:lnSpc>
            </a:pPr>
            <a:r>
              <a:rPr lang="en-US" altLang="zh-CN" sz="2400">
                <a:sym typeface="+mn-ea"/>
              </a:rPr>
              <a:t>迟交规则：每超过24</a:t>
            </a:r>
            <a:r>
              <a:rPr lang="en-US" altLang="zh-CN" sz="2400">
                <a:sym typeface="+mn-ea"/>
              </a:rPr>
              <a:t>小时，扣 10%分数，直到扣完为止</a:t>
            </a:r>
            <a:endParaRPr lang="en-US" altLang="zh-CN" sz="2400">
              <a:sym typeface="+mn-ea"/>
            </a:endParaRPr>
          </a:p>
          <a:p>
            <a:pPr indent="0" fontAlgn="auto">
              <a:lnSpc>
                <a:spcPct val="150000"/>
              </a:lnSpc>
            </a:pPr>
            <a:r>
              <a:rPr lang="en-US" altLang="zh-CN" sz="2400">
                <a:sym typeface="+mn-ea"/>
              </a:rPr>
              <a:t>禁止抄袭，如发现抄袭，抄与被抄均记0分</a:t>
            </a:r>
            <a:endParaRPr lang="en-US" altLang="zh-CN" sz="2400">
              <a:sym typeface="+mn-ea"/>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resource_record_key" val="{&quot;10&quot;:[20277929,3732423]}"/>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935</Words>
  <Application>WPS 演示</Application>
  <PresentationFormat>宽屏</PresentationFormat>
  <Paragraphs>49</Paragraphs>
  <Slides>6</Slides>
  <Notes>0</Notes>
  <HiddenSlides>0</HiddenSlides>
  <MMClips>0</MMClips>
  <ScaleCrop>false</ScaleCrop>
  <HeadingPairs>
    <vt:vector size="6" baseType="variant">
      <vt:variant>
        <vt:lpstr>已用的字体</vt:lpstr>
      </vt:variant>
      <vt:variant>
        <vt:i4>19</vt:i4>
      </vt:variant>
      <vt:variant>
        <vt:lpstr>主题</vt:lpstr>
      </vt:variant>
      <vt:variant>
        <vt:i4>2</vt:i4>
      </vt:variant>
      <vt:variant>
        <vt:lpstr>幻灯片标题</vt:lpstr>
      </vt:variant>
      <vt:variant>
        <vt:i4>6</vt:i4>
      </vt:variant>
    </vt:vector>
  </HeadingPairs>
  <TitlesOfParts>
    <vt:vector size="27" baseType="lpstr">
      <vt:lpstr>Arial</vt:lpstr>
      <vt:lpstr>宋体</vt:lpstr>
      <vt:lpstr>Wingdings</vt:lpstr>
      <vt:lpstr>微软雅黑</vt:lpstr>
      <vt:lpstr>汉仪旗黑</vt:lpstr>
      <vt:lpstr>Calibri</vt:lpstr>
      <vt:lpstr>汉仪书宋二KW</vt:lpstr>
      <vt:lpstr>OPPOSans R</vt:lpstr>
      <vt:lpstr>Calibri</vt:lpstr>
      <vt:lpstr>等线</vt:lpstr>
      <vt:lpstr>Thonburi</vt:lpstr>
      <vt:lpstr>等线 Light</vt:lpstr>
      <vt:lpstr>汉仪中等线KW</vt:lpstr>
      <vt:lpstr>宋体</vt:lpstr>
      <vt:lpstr>Arial Unicode MS</vt:lpstr>
      <vt:lpstr>OPPOSans R</vt:lpstr>
      <vt:lpstr>微软雅黑</vt:lpstr>
      <vt:lpstr>等线</vt:lpstr>
      <vt:lpstr>苹方-简</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师兄 二</dc:creator>
  <cp:lastModifiedBy>徐熠</cp:lastModifiedBy>
  <cp:revision>181</cp:revision>
  <dcterms:created xsi:type="dcterms:W3CDTF">2026-06-07T13:49:03Z</dcterms:created>
  <dcterms:modified xsi:type="dcterms:W3CDTF">2026-06-07T13:49:03Z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3EE9DAB53B2216DDCF76256AD9913045_43</vt:lpwstr>
  </property>
  <property fmtid="{D5CDD505-2E9C-101B-9397-08002B2CF9AE}" pid="3" name="KSOProductBuildVer">
    <vt:lpwstr>2052-12.1.25869.25869</vt:lpwstr>
  </property>
</Properties>
</file>